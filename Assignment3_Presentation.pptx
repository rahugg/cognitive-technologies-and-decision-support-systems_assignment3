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18345D"/>
                </a:solidFill>
                <a:latin typeface="Arial"/>
              </a:rPr>
              <a:t>Assignment 3</a:t>
            </a:r>
          </a:p>
          <a:p>
            <a:pPr algn="ctr"/>
            <a:r>
              <a:rPr sz="2800" b="1">
                <a:solidFill>
                  <a:srgbClr val="2B70AA"/>
                </a:solidFill>
                <a:latin typeface="Arial"/>
              </a:rPr>
              <a:t>Cognitive Emotion Recognition System</a:t>
            </a:r>
          </a:p>
          <a:p>
            <a:pPr algn="ctr"/>
            <a:r>
              <a:rPr sz="1700">
                <a:solidFill>
                  <a:srgbClr val="5A5A5A"/>
                </a:solidFill>
                <a:latin typeface="Arial"/>
              </a:rPr>
              <a:t>Docker Compose • OpenCV • PyTorch • PostgreSQL • NetworkX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749039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Продолжение архитектуры Assignment 2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4 когнитивных функции: Perception, Attention, Memory, Knowledge Representation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rial"/>
              </a:defRPr>
            </a:pPr>
            <a:r>
              <a:t>Распознавание выражения лица с вероятностью и контролем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80644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A5A5A"/>
                </a:solidFill>
                <a:latin typeface="Arial"/>
              </a:rPr>
              <a:t>Akhmedov Adilet • Rymgali Assanali • Faizolla Amanbek | AAI-2501M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45D"/>
                </a:solidFill>
                <a:latin typeface="Arial"/>
              </a:rPr>
              <a:t>Архитектура, Docker Compose и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Arial"/>
              </a:rPr>
              <a:t>Единое воспроизводимое окружение вместо локальной ручной установки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45720"/>
          </a:xfrm>
          <a:prstGeom prst="rect">
            <a:avLst/>
          </a:prstGeom>
          <a:solidFill>
            <a:srgbClr val="2B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583680" cy="20590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508760"/>
            <a:ext cx="41148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FER-2013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Kaggle: msambare/fer2013
7 emotion classes, 48×48 grayscale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788920"/>
            <a:ext cx="41148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CK+ / CK+48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Kaggle: shawon10/ckplus
Lab expressions; contempt excluded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069080"/>
            <a:ext cx="4114800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RAF-DB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Kaggle: shuvoalok/raf-db-dataset
Real-world facial expressions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6035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  <a:latin typeface="Arial"/>
              </a:defRPr>
            </a:pPr>
            <a:r>
              <a:t>db: PostgreSQL 16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  <a:latin typeface="Arial"/>
              </a:defRPr>
            </a:pPr>
            <a:r>
              <a:t>app: Streamlit cognitive pipeline</a:t>
            </a:r>
          </a:p>
          <a:p>
            <a:pPr>
              <a:spcAft>
                <a:spcPts val="800"/>
              </a:spcAft>
              <a:defRPr sz="1400">
                <a:solidFill>
                  <a:srgbClr val="1E1E1E"/>
                </a:solidFill>
                <a:latin typeface="Arial"/>
              </a:defRPr>
            </a:pPr>
            <a:r>
              <a:t>profiles: data / train /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45D"/>
                </a:solidFill>
                <a:latin typeface="Arial"/>
              </a:rPr>
              <a:t>Perception +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Arial"/>
              </a:rPr>
              <a:t>Как сырой кадр превращается в надёжную информацию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45720"/>
          </a:xfrm>
          <a:prstGeom prst="rect">
            <a:avLst/>
          </a:prstGeom>
          <a:solidFill>
            <a:srgbClr val="2B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1. Perception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OpenCV face ROI → grayscale 48×48 → PyTorch CNN → 7 probabilities +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21208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Quality features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brightness + Laplacian sharpness → quality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521208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Результат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emotion, confidence, quality, bbox, detector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12064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2. Attention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Accept only when quality ≥ 0.45 AND confidence ≥ 0.55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17520"/>
            <a:ext cx="512064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Relevance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0.45 × quality + 0.55 ×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26280"/>
            <a:ext cx="5120640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Why it matters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High probability CNN не превращается в жёсткий вывод при плохом кадре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45D"/>
                </a:solidFill>
                <a:latin typeface="Arial"/>
              </a:rPr>
              <a:t>Memory + Knowledge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Arial"/>
              </a:rPr>
              <a:t>Память влияет на следующий запрос, но не обходит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45720"/>
          </a:xfrm>
          <a:prstGeom prst="rect">
            <a:avLst/>
          </a:prstGeom>
          <a:solidFill>
            <a:srgbClr val="2B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749039" cy="123444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Short-term Memory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deque(maxlen=5) per session
Сглаживание accepted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3749039" cy="137160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Long-term Memory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PostgreSQL
SELECT previous result + INSERT accepted prediction
settings: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3749039" cy="105156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Privacy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Raw face images не сохраняются в DB</a:t>
            </a:r>
          </a:p>
        </p:txBody>
      </p:sp>
      <p:pic>
        <p:nvPicPr>
          <p:cNvPr id="8" name="Picture 7" descr="knowledg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25880"/>
            <a:ext cx="6949440" cy="4219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5166360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R1 reject → request_more_data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R2 same previous emotion → +0.05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R3 confidence &lt; 0.60 → uncertain</a:t>
            </a:r>
          </a:p>
          <a:p>
            <a:pPr>
              <a:spcAft>
                <a:spcPts val="800"/>
              </a:spcAft>
              <a:defRPr sz="1300">
                <a:solidFill>
                  <a:srgbClr val="1E1E1E"/>
                </a:solidFill>
                <a:latin typeface="Arial"/>
              </a:defRPr>
            </a:pPr>
            <a:r>
              <a:t>R4 accepted emotion →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45D"/>
                </a:solidFill>
                <a:latin typeface="Arial"/>
              </a:rPr>
              <a:t>3 интегрированных примера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Arial"/>
              </a:rPr>
              <a:t>Каждый проходит через все 4 когнитивных модуля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45720"/>
          </a:xfrm>
          <a:prstGeom prst="rect">
            <a:avLst/>
          </a:prstGeom>
          <a:solidFill>
            <a:srgbClr val="2B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438912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Example 1 — clear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Input: clear test image
Perception: high quality/confidence
Attention: accepted
Memory: INSERT to PostgreSQL
Knowledge: R4
Output: emotion + confidence +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438912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Example 2 — mild degradation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Input: same face, mild blur/darken
Perception: weaker signal
Attention: accepted
Memory: SELECT + STM smoothing
Knowledge: R2 continuity bonus
Output: stabilized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74720" cy="438912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Example 3 — low quality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Input: heavy blur/darken
Perception: CNN still returns probabilities
Attention: rejected
Memory: cannot override reject
Knowledge: R1
Output: insufficient_data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345D"/>
                </a:solidFill>
                <a:latin typeface="Arial"/>
              </a:rPr>
              <a:t>Запуск и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  <a:latin typeface="Arial"/>
              </a:rPr>
              <a:t>Все действия выполняются через 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64240" cy="45720"/>
          </a:xfrm>
          <a:prstGeom prst="rect">
            <a:avLst/>
          </a:prstGeom>
          <a:solidFill>
            <a:srgbClr val="2B7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92240" cy="4389120"/>
          </a:xfrm>
          <a:prstGeom prst="roundRect">
            <a:avLst/>
          </a:prstGeom>
          <a:solidFill>
            <a:srgbClr val="F8F8F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1  cp .env.example .env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2  docker compose --profile data run --rm dataset-downloader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3  docker compose --profile train run --rm trainer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4  docker compose up --build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5  open http://localhost:8501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E1E1E"/>
                </a:solidFill>
                <a:latin typeface="Courier New"/>
              </a:rPr>
              <a:t>6  docker compose exec app python scripts/run_demo.py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63040"/>
            <a:ext cx="388620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Что показать преподавателю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Streamlit pipeline + PostgreSQL history + knowledge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880360"/>
            <a:ext cx="388620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Главный аргумент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Система умеет отказаться от решения при low-quality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297680"/>
            <a:ext cx="3886200" cy="1143000"/>
          </a:xfrm>
          <a:prstGeom prst="roundRect">
            <a:avLst/>
          </a:prstGeom>
          <a:solidFill>
            <a:srgbClr val="EEF5FA"/>
          </a:solidFill>
          <a:ln>
            <a:solidFill>
              <a:srgbClr val="2B7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18345D"/>
                </a:solidFill>
                <a:latin typeface="Arial"/>
              </a:rPr>
              <a:t>Ограничение</a:t>
            </a:r>
          </a:p>
          <a:p>
            <a:r>
              <a:rPr sz="1200">
                <a:solidFill>
                  <a:srgbClr val="1E1E1E"/>
                </a:solidFill>
                <a:latin typeface="Arial"/>
              </a:rPr>
              <a:t>Классифицируем выражение лица, а не “истинное внутреннее состояние”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5A5A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