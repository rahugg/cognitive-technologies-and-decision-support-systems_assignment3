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64fc7881004dc4" /><Relationship Type="http://schemas.openxmlformats.org/officeDocument/2006/relationships/extended-properties" Target="/docProps/app.xml" Id="R9dc0cd5fb38942f2" /><Relationship Type="http://schemas.openxmlformats.org/officeDocument/2006/relationships/officeDocument" Target="/ppt/presentation.xml" Id="R8266f4fe119949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45c3e482c4419c"/>
  </p:sldMasterIdLst>
  <p:notesMasterIdLst>
    <p:notesMasterId xmlns:r="http://schemas.openxmlformats.org/officeDocument/2006/relationships" r:id="R498592ca4ceb41ce"/>
  </p:notesMasterIdLst>
  <p:sldIdLst>
    <p:sldId xmlns:r="http://schemas.openxmlformats.org/officeDocument/2006/relationships" id="256" r:id="R0625f67c8a764aea"/>
    <p:sldId xmlns:r="http://schemas.openxmlformats.org/officeDocument/2006/relationships" id="257" r:id="Rc1fcd3c99c5649e7"/>
    <p:sldId xmlns:r="http://schemas.openxmlformats.org/officeDocument/2006/relationships" id="258" r:id="R44427ce316474903"/>
    <p:sldId xmlns:r="http://schemas.openxmlformats.org/officeDocument/2006/relationships" id="259" r:id="R44aa9e19754a4238"/>
    <p:sldId xmlns:r="http://schemas.openxmlformats.org/officeDocument/2006/relationships" id="260" r:id="Rd2fbd81cff914eb8"/>
    <p:sldId xmlns:r="http://schemas.openxmlformats.org/officeDocument/2006/relationships" id="261" r:id="Rc0f96f257f804b30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9777862a6b42df" /><Relationship Type="http://schemas.openxmlformats.org/officeDocument/2006/relationships/slideMaster" Target="/ppt/slideMasters/slideMaster1.xml" Id="R5a45c3e482c4419c" /><Relationship Type="http://schemas.openxmlformats.org/officeDocument/2006/relationships/notesMaster" Target="/ppt/notesMasters/notesMaster1.xml" Id="R498592ca4ceb41ce" /><Relationship Type="http://schemas.openxmlformats.org/officeDocument/2006/relationships/presProps" Target="/ppt/presProps.xml" Id="R4b6dd6e7cf3645b2" /><Relationship Type="http://schemas.openxmlformats.org/officeDocument/2006/relationships/viewProps" Target="/ppt/viewProps.xml" Id="Rabf57af8ed224310" /><Relationship Type="http://schemas.openxmlformats.org/officeDocument/2006/relationships/tableStyles" Target="/ppt/tableStyles.xml" Id="R27088279778244a6" /><Relationship Type="http://schemas.openxmlformats.org/officeDocument/2006/relationships/slide" Target="/ppt/slides/slide1.xml" Id="R0625f67c8a764aea" /><Relationship Type="http://schemas.openxmlformats.org/officeDocument/2006/relationships/slide" Target="/ppt/slides/slide2.xml" Id="Rc1fcd3c99c5649e7" /><Relationship Type="http://schemas.openxmlformats.org/officeDocument/2006/relationships/slide" Target="/ppt/slides/slide3.xml" Id="R44427ce316474903" /><Relationship Type="http://schemas.openxmlformats.org/officeDocument/2006/relationships/slide" Target="/ppt/slides/slide4.xml" Id="R44aa9e19754a4238" /><Relationship Type="http://schemas.openxmlformats.org/officeDocument/2006/relationships/slide" Target="/ppt/slides/slide5.xml" Id="Rd2fbd81cff914eb8" /><Relationship Type="http://schemas.openxmlformats.org/officeDocument/2006/relationships/slide" Target="/ppt/slides/slide6.xml" Id="Rc0f96f257f804b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a52fd46be64b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a1a9490ede4001" /><Relationship Type="http://schemas.openxmlformats.org/officeDocument/2006/relationships/notesMaster" Target="/ppt/notesMasters/notesMaster1.xml" Id="R9a7dcd98e0ae49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6d84d1e39141f3" /><Relationship Type="http://schemas.openxmlformats.org/officeDocument/2006/relationships/notesMaster" Target="/ppt/notesMasters/notesMaster1.xml" Id="R3119ba5be28546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97d6975fbe4dd2" /><Relationship Type="http://schemas.openxmlformats.org/officeDocument/2006/relationships/notesMaster" Target="/ppt/notesMasters/notesMaster1.xml" Id="R375fcc53cd6242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e2efd15dfe44f9" /><Relationship Type="http://schemas.openxmlformats.org/officeDocument/2006/relationships/notesMaster" Target="/ppt/notesMasters/notesMaster1.xml" Id="R5808064c4ec44e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2c29dedf794658" /><Relationship Type="http://schemas.openxmlformats.org/officeDocument/2006/relationships/notesMaster" Target="/ppt/notesMasters/notesMaster1.xml" Id="R9dcf2475f8d147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432461e4cb4767" /><Relationship Type="http://schemas.openxmlformats.org/officeDocument/2006/relationships/notesMaster" Target="/ppt/notesMasters/notesMaster1.xml" Id="Recf6a287dacc4e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060e8cfa1544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260263c80f43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707c1046c549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2f748d05f845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aac4ac72854db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6be7c08e7747b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c633a3e914a1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d47b957c84487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c511f105fe4ce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8f366a415045e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75b49e1a34442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ABC756-982A-4528-BF54-5DB4AD33F51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72DBBDD-C90B-4070-B3A2-D754DA341F4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CF40C27-8671-41DA-AC69-C427A6B870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195F52E-1F20-4FCC-9BB4-35D99E871E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A2F90C-3425-4B48-8B1E-8CBA7A4584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9BA54F-488B-406D-AC2C-57EB4830B7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793F835-4237-42AD-84EE-0552C1ADE6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71C45F9-9C34-4FB8-8B9E-B612A9D59A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D66BEC6-AF93-4B31-BA45-EDAC0F3629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5BA735-A039-4E1A-860D-D0B6EB8461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A2650C-67E6-48F5-8F9F-95E906AA0F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A51AC3F-951F-4647-A523-47CB16D448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0E42A7-DF52-432B-A864-8B0A5CD335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16952AE-0ABF-4A1A-911A-24BF8880F8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DA6072-C12C-4DB7-8C40-14F068DAEA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A6DD39-50D6-47C5-8602-C7C43B2AA8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2FE677F-9802-4C1D-86A4-B122CD0FBB0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AA8A15A-7346-4635-8E37-53FE4F1C2B3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781761A-CB64-4A68-BDC8-8830B04BDD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EBEF25B-6B62-4A39-83AA-B675630EF6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C323032-C4EB-44BE-9869-D4442185FA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23E574-3819-4FCC-B442-B242B10C01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3FD467B-5B58-4F48-9604-8873CB35F5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8716CC4-1B57-4876-9155-B0FDA880A10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447A366-9543-4BCE-B8E4-6EB7F616BB9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54110DD-D7C6-485E-9D0E-38903B390E4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A3D4E44-9967-4D32-BD5F-5DBD0E8AF0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98A01B5-DC1B-40D4-91A4-D2501FEE1A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961C1C6-194C-45A6-88BC-F475277D33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E04BB1-DC1A-4364-A8BF-713E510728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0CEB768-8BE9-418D-8F94-80FF25F5C3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8C13BE1-FD12-41A8-98DF-5F14A203AB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F5103A0-0EC9-45FD-AEB3-690C1B65DF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9D24AFD-02B3-4ABA-BDDD-F913C17EDE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6A2265E-6958-4750-A1C9-287C823555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82ED8CD-7B5D-4554-A887-32016C1491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1C2788-D394-4246-8495-C294A68BFE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923C678-4A51-4E17-86AC-71A7D3387FF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D3608DE-8B44-4BF8-82FB-46F2444962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858D9DC-A9D4-4DA7-A879-C5BC92F98A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C24E8C1-CB0E-457F-9EB2-7ED222EDBA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7796E4C-67BD-497F-A33D-C6871FAE9D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B1713A-0410-4D9B-BAD8-A3EAAFC0FC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9EC248F-6422-476A-8268-486EB6761BF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0686905-D9A4-460D-9944-ECE3E644CAE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0161BE7-92F2-49A1-A210-32930220C2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C6412DE-809E-4BFE-A5A7-37CDDA28BD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EB08D6-33CB-4129-8723-5C0F59D2A0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A041BA-AC49-4449-A97B-F9A711454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73EA8B3-3014-4C14-893A-A794E44C63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93AA6BA-23B6-4F00-A64C-0E78313DFA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032B9B6-7AFA-4678-89BD-612553C84A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BF59DF0-5851-4F3D-95B1-E882DD7980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8528E19-9E4C-4C92-BB0B-D3B9E95E00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C66CB5-A1C6-4931-853F-EB877982F9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EE0B14A-A835-4232-96D2-0D945D6653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299529-1A72-4829-9A58-D69CA2624F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3AC81B-6B09-41B6-8BB1-A75A5791AB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e46fe1eb1e4a3a" /><Relationship Type="http://schemas.openxmlformats.org/officeDocument/2006/relationships/slideLayout" Target="/ppt/slideLayouts/slideLayout1.xml" Id="R2a2c6e09421349f8" /><Relationship Type="http://schemas.openxmlformats.org/officeDocument/2006/relationships/slideLayout" Target="/ppt/slideLayouts/slideLayout2.xml" Id="R9deffdb82620496c" /><Relationship Type="http://schemas.openxmlformats.org/officeDocument/2006/relationships/slideLayout" Target="/ppt/slideLayouts/slideLayout3.xml" Id="R1cb141f8d06643b6" /><Relationship Type="http://schemas.openxmlformats.org/officeDocument/2006/relationships/slideLayout" Target="/ppt/slideLayouts/slideLayout4.xml" Id="R2d2b283941c5464a" /><Relationship Type="http://schemas.openxmlformats.org/officeDocument/2006/relationships/slideLayout" Target="/ppt/slideLayouts/slideLayout5.xml" Id="R781c2ba7a0f64a04" /><Relationship Type="http://schemas.openxmlformats.org/officeDocument/2006/relationships/slideLayout" Target="/ppt/slideLayouts/slideLayout6.xml" Id="Rc27050955951429a" /><Relationship Type="http://schemas.openxmlformats.org/officeDocument/2006/relationships/slideLayout" Target="/ppt/slideLayouts/slideLayout7.xml" Id="R6d4d27fa3279467a" /><Relationship Type="http://schemas.openxmlformats.org/officeDocument/2006/relationships/slideLayout" Target="/ppt/slideLayouts/slideLayout8.xml" Id="R97a8cb1460354e0c" /><Relationship Type="http://schemas.openxmlformats.org/officeDocument/2006/relationships/slideLayout" Target="/ppt/slideLayouts/slideLayout9.xml" Id="R19fed00a1dfb44a6" /><Relationship Type="http://schemas.openxmlformats.org/officeDocument/2006/relationships/slideLayout" Target="/ppt/slideLayouts/slideLayout10.xml" Id="R7d4196e87d984827" /><Relationship Type="http://schemas.openxmlformats.org/officeDocument/2006/relationships/slideLayout" Target="/ppt/slideLayouts/slideLayout11.xml" Id="R7c1fa7fe8c2d4d0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7AC75D-AD28-4766-B512-3749826DDD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B650539-55CF-45AB-B280-888EFAC449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D7E02F8-D87A-4C75-BA16-554EE484BD9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FDE647-CB37-4F9D-8680-19DD441A193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64D7829-1E89-480A-9FFC-5A3124CE7B6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2c6e09421349f8"/>
    <p:sldLayoutId xmlns:r="http://schemas.openxmlformats.org/officeDocument/2006/relationships" id="2147483650" r:id="R9deffdb82620496c"/>
    <p:sldLayoutId xmlns:r="http://schemas.openxmlformats.org/officeDocument/2006/relationships" id="2147483651" r:id="R1cb141f8d06643b6"/>
    <p:sldLayoutId xmlns:r="http://schemas.openxmlformats.org/officeDocument/2006/relationships" id="2147483652" r:id="R2d2b283941c5464a"/>
    <p:sldLayoutId xmlns:r="http://schemas.openxmlformats.org/officeDocument/2006/relationships" id="2147483653" r:id="R781c2ba7a0f64a04"/>
    <p:sldLayoutId xmlns:r="http://schemas.openxmlformats.org/officeDocument/2006/relationships" id="2147483654" r:id="Rc27050955951429a"/>
    <p:sldLayoutId xmlns:r="http://schemas.openxmlformats.org/officeDocument/2006/relationships" id="2147483655" r:id="R6d4d27fa3279467a"/>
    <p:sldLayoutId xmlns:r="http://schemas.openxmlformats.org/officeDocument/2006/relationships" id="2147483656" r:id="R97a8cb1460354e0c"/>
    <p:sldLayoutId xmlns:r="http://schemas.openxmlformats.org/officeDocument/2006/relationships" id="2147483657" r:id="R19fed00a1dfb44a6"/>
    <p:sldLayoutId xmlns:r="http://schemas.openxmlformats.org/officeDocument/2006/relationships" id="2147483658" r:id="R7d4196e87d984827"/>
    <p:sldLayoutId xmlns:r="http://schemas.openxmlformats.org/officeDocument/2006/relationships" id="2147483659" r:id="R7c1fa7fe8c2d4d08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6f884aedc7144f4" /><Relationship Type="http://schemas.openxmlformats.org/officeDocument/2006/relationships/notesSlide" Target="/ppt/notesSlides/notesSlide1.xml" Id="R7191149c575644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d7301b5a6f4f04" /><Relationship Type="http://schemas.openxmlformats.org/officeDocument/2006/relationships/image" Target="/ppt/media/image.png" Id="R7589b6a2831d45fc" /><Relationship Type="http://schemas.openxmlformats.org/officeDocument/2006/relationships/notesSlide" Target="/ppt/notesSlides/notesSlide2.xml" Id="Rcaa447fb1bbf4d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30867cdc854a18" /><Relationship Type="http://schemas.openxmlformats.org/officeDocument/2006/relationships/notesSlide" Target="/ppt/notesSlides/notesSlide3.xml" Id="R1e47b4bd10f942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a04b435d464db2" /><Relationship Type="http://schemas.openxmlformats.org/officeDocument/2006/relationships/image" Target="/ppt/media/image2.png" Id="Rb8b55c8b75994de1" /><Relationship Type="http://schemas.openxmlformats.org/officeDocument/2006/relationships/notesSlide" Target="/ppt/notesSlides/notesSlide4.xml" Id="Rfce432c0278c4d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be60e147b1404b" /><Relationship Type="http://schemas.openxmlformats.org/officeDocument/2006/relationships/notesSlide" Target="/ppt/notesSlides/notesSlide5.xml" Id="Rfaa2f9b924f54a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0e1da293f4462b" /><Relationship Type="http://schemas.openxmlformats.org/officeDocument/2006/relationships/notesSlide" Target="/ppt/notesSlides/notesSlide6.xml" Id="R40de38e10b9040b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0FFFEC8-C04B-46D2-BDF2-092BFBAF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F919D8C-7071-4831-A5EB-A3DA64AA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069848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800" b="1">
                <a:solidFill>
                  <a:srgbClr val="18345D"/>
                </a:solidFill>
                <a:latin typeface="Arial"/>
                <a:ea typeface="Arial"/>
                <a:cs typeface="Arial"/>
              </a:rPr>
              <a:t>Assignment 3</a:t>
            </a:r>
          </a:p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2B70AA"/>
                </a:solidFill>
                <a:latin typeface="Arial"/>
                <a:ea typeface="Arial"/>
                <a:cs typeface="Arial"/>
              </a:rPr>
              <a:t>Cognitive Emotion Recognition System</a:t>
            </a:r>
          </a:p>
          <a:p xmlns:a="http://schemas.openxmlformats.org/drawingml/2006/main">
            <a:pPr algn="ctr">
              <a:buNone/>
            </a:pPr>
            <a:r>
              <a:rPr sz="1700">
                <a:solidFill>
                  <a:srgbClr val="5A5A5A"/>
                </a:solidFill>
                <a:latin typeface="Arial"/>
                <a:ea typeface="Arial"/>
                <a:cs typeface="Arial"/>
              </a:rPr>
              <a:t>Docker Compose • OpenCV • PyTorch • PostgreSQL • NetworkX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5BB1022-312E-4469-ADE6-261F6882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749039"/>
            <a:ext cx="8229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60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t>Продолжение архитектуры Assignment 2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60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t>4 когнитивных функции: Perception, Attention, Memory, Knowledge Representation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60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t>Распознавание выражения лица с вероятностью и контролем качества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51F3396-B2A0-492B-AE4F-DE9776B1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806440"/>
            <a:ext cx="8595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A5A5A"/>
                </a:solidFill>
                <a:latin typeface="Arial"/>
                <a:ea typeface="Arial"/>
                <a:cs typeface="Arial"/>
              </a:rPr>
              <a:t>Akhmedov Adilet • Rymgali Assanali • Faizolla Amanbek | AAI-2501M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CAED3D3-DFFE-4BC7-8BD9-541FA715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46520"/>
            <a:ext cx="731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A5A5A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860618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2BD9133-C59E-4208-BB55-DC04D9F7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18345D"/>
                </a:solidFill>
                <a:latin typeface="Arial"/>
                <a:ea typeface="Arial"/>
                <a:cs typeface="Arial"/>
              </a:rPr>
              <a:t>Архитектура, Docker Compose и datasets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97E30E0-6C28-4094-BDDD-8E087568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1440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A5A5A"/>
                </a:solidFill>
                <a:latin typeface="Arial"/>
                <a:ea typeface="Arial"/>
                <a:cs typeface="Arial"/>
              </a:rPr>
              <a:t>Единое воспроизводимое окружение вместо локальной ручной установки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6FEB9AA-7E7C-4F17-B270-DC28DB81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07008"/>
            <a:ext cx="1106424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0A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9b6a2831d45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417320"/>
            <a:ext cx="6583680" cy="2059017"/>
          </a:xfrm>
          <a:prstGeom xmlns:a="http://schemas.openxmlformats.org/drawingml/2006/main" prst="rect">
            <a:avLst/>
          </a:prstGeom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6FA1688-0A77-40B1-AC5C-9BE260FA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508760"/>
            <a:ext cx="41148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>
            <a:solidFill>
              <a:srgbClr val="2B70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r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345D"/>
                </a:solidFill>
                <a:latin typeface="Arial"/>
                <a:ea typeface="Arial"/>
                <a:cs typeface="Arial"/>
              </a:rPr>
              <a:t>FER-2013</a:t>
            </a:r>
          </a:p>
          <a:p xmlns:a="http://schemas.openxmlformats.org/drawingml/2006/main"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Kaggle: msambare/fer2013
7 emotion classes, 48×48 grayscale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474E460-CB03-4C1E-8545-9620B6A2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788920"/>
            <a:ext cx="41148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>
            <a:solidFill>
              <a:srgbClr val="2B70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r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345D"/>
                </a:solidFill>
                <a:latin typeface="Arial"/>
                <a:ea typeface="Arial"/>
                <a:cs typeface="Arial"/>
              </a:rPr>
              <a:t>CK+ / CK+48</a:t>
            </a:r>
          </a:p>
          <a:p xmlns:a="http://schemas.openxmlformats.org/drawingml/2006/main"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Kaggle: shawon10/ckplus
Lab expressions; contempt excluded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B629D28-E219-4623-9971-1CB25C8F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069080"/>
            <a:ext cx="41148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>
            <a:solidFill>
              <a:srgbClr val="2B70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r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345D"/>
                </a:solidFill>
                <a:latin typeface="Arial"/>
                <a:ea typeface="Arial"/>
                <a:cs typeface="Arial"/>
              </a:rPr>
              <a:t>RAF-DB</a:t>
            </a:r>
          </a:p>
          <a:p xmlns:a="http://schemas.openxmlformats.org/drawingml/2006/main"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Kaggle: shuvoalok/raf-db-dataset
Real-world facial expressions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62603BB-0AFC-4B99-A73B-2EE8561E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60350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t>db: PostgreSQL 16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t>app: Streamlit cognitive pipeline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t>profiles: data / train / notebook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1D1B106-E62C-4972-A9E2-39F39977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46520"/>
            <a:ext cx="731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A5A5A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249981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F92BC7F-2FBB-462E-8FE4-F2FBA5AD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18345D"/>
                </a:solidFill>
                <a:latin typeface="Arial"/>
                <a:ea typeface="Arial"/>
                <a:cs typeface="Arial"/>
              </a:rPr>
              <a:t>Perception + Attention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DDBFC13-F43C-4C7A-A734-B52A744B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1440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A5A5A"/>
                </a:solidFill>
                <a:latin typeface="Arial"/>
                <a:ea typeface="Arial"/>
                <a:cs typeface="Arial"/>
              </a:rPr>
              <a:t>Как сырой кадр превращается в надёжную информацию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C3A106B-0664-40DE-88F1-21719977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07008"/>
            <a:ext cx="1106424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0A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E22034B-2D62-437C-B4C9-EEEC0599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52120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>
            <a:solidFill>
              <a:srgbClr val="2B70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r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345D"/>
                </a:solidFill>
                <a:latin typeface="Arial"/>
                <a:ea typeface="Arial"/>
                <a:cs typeface="Arial"/>
              </a:rPr>
              <a:t>1. Perception</a:t>
            </a:r>
          </a:p>
          <a:p xmlns:a="http://schemas.openxmlformats.org/drawingml/2006/main"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OpenCV face ROI → grayscale 48×48 → PyTorch CNN → 7 probabilities + confidence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BBC6072-D03B-4CE0-B66E-32549B6E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52120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>
            <a:solidFill>
              <a:srgbClr val="2B70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r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345D"/>
                </a:solidFill>
                <a:latin typeface="Arial"/>
                <a:ea typeface="Arial"/>
                <a:cs typeface="Arial"/>
              </a:rPr>
              <a:t>Quality features</a:t>
            </a:r>
          </a:p>
          <a:p xmlns:a="http://schemas.openxmlformats.org/drawingml/2006/main"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brightness + Laplacian sharpness → quality score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D1EE469-A631-47FE-883A-2EC9DC39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26280"/>
            <a:ext cx="52120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>
            <a:solidFill>
              <a:srgbClr val="2B70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r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345D"/>
                </a:solidFill>
                <a:latin typeface="Arial"/>
                <a:ea typeface="Arial"/>
                <a:cs typeface="Arial"/>
              </a:rPr>
              <a:t>Результат</a:t>
            </a:r>
          </a:p>
          <a:p xmlns:a="http://schemas.openxmlformats.org/drawingml/2006/main"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emotion, confidence, quality, face_found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ADD75E1-3335-4531-B9FC-818545C0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08760"/>
            <a:ext cx="512064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>
            <a:solidFill>
              <a:srgbClr val="2B70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r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345D"/>
                </a:solidFill>
                <a:latin typeface="Arial"/>
                <a:ea typeface="Arial"/>
                <a:cs typeface="Arial"/>
              </a:rPr>
              <a:t>2. Attention</a:t>
            </a:r>
          </a:p>
          <a:p xmlns:a="http://schemas.openxmlformats.org/drawingml/2006/main"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Accept only when quality ≥ 0.45 AND confidence ≥ 0.55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CFB5077-9D78-41E0-A532-D850E985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017520"/>
            <a:ext cx="512064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>
            <a:solidFill>
              <a:srgbClr val="2B70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r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345D"/>
                </a:solidFill>
                <a:latin typeface="Arial"/>
                <a:ea typeface="Arial"/>
                <a:cs typeface="Arial"/>
              </a:rPr>
              <a:t>Relevance</a:t>
            </a:r>
          </a:p>
          <a:p xmlns:a="http://schemas.openxmlformats.org/drawingml/2006/main"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0.45 × quality + 0.55 × confidence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DA48E93-5EB8-4537-8B2B-93E37C0A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526280"/>
            <a:ext cx="512064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>
            <a:solidFill>
              <a:srgbClr val="2B70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r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345D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High probability CNN не превращается в жёсткий вывод при плохом кадре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FCDAAFF-58DE-43C4-B275-4EDD703E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46520"/>
            <a:ext cx="731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A5A5A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369187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A102963-5D04-4DB6-B988-C6364AEA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18345D"/>
                </a:solidFill>
                <a:latin typeface="Arial"/>
                <a:ea typeface="Arial"/>
                <a:cs typeface="Arial"/>
              </a:rPr>
              <a:t>Memory + Knowledge Representation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479F7E2-D41C-47F8-BC80-38C2FA79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1440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A5A5A"/>
                </a:solidFill>
                <a:latin typeface="Arial"/>
                <a:ea typeface="Arial"/>
                <a:cs typeface="Arial"/>
              </a:rPr>
              <a:t>Память влияет на следующий запрос, но не обходит Attention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8290CC7-7BBC-477C-BD03-BCEC5171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07008"/>
            <a:ext cx="1106424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0A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E701096-DAED-4D41-8257-D9DD262C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3749039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>
            <a:solidFill>
              <a:srgbClr val="2B70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r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345D"/>
                </a:solidFill>
                <a:latin typeface="Arial"/>
                <a:ea typeface="Arial"/>
                <a:cs typeface="Arial"/>
              </a:rPr>
              <a:t>Short-term Memory</a:t>
            </a:r>
          </a:p>
          <a:p xmlns:a="http://schemas.openxmlformats.org/drawingml/2006/main"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deque(maxlen=5) per session
</a:t>
            </a:r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Recent results; no probability smoothing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9C2696F-C135-4562-9916-55FCF055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71800"/>
            <a:ext cx="3749039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>
            <a:solidFill>
              <a:srgbClr val="2B70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r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345D"/>
                </a:solidFill>
                <a:latin typeface="Arial"/>
                <a:ea typeface="Arial"/>
                <a:cs typeface="Arial"/>
              </a:rPr>
              <a:t>Long-term Memory</a:t>
            </a:r>
          </a:p>
          <a:p xmlns:a="http://schemas.openxmlformats.org/drawingml/2006/main"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PostgreSQL
</a:t>
            </a:r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SELECT prior accepted result
INSERT prediction metadata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8AF70B2D-8E80-4B58-887F-3B2C6828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63440"/>
            <a:ext cx="3749039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>
            <a:solidFill>
              <a:srgbClr val="2B70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r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345D"/>
                </a:solidFill>
                <a:latin typeface="Arial"/>
                <a:ea typeface="Arial"/>
                <a:cs typeface="Arial"/>
              </a:rPr>
              <a:t>Privacy</a:t>
            </a:r>
          </a:p>
          <a:p xmlns:a="http://schemas.openxmlformats.org/drawingml/2006/main"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Raw face images не сохраняются в DB</a:t>
            </a:r>
          </a:p>
        </p:txBody>
      </p:sp>
      <p:pic>
        <p:nvPicPr>
          <p:cNvPr id="18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b55c8b75994d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17720" y="1325880"/>
            <a:ext cx="6949440" cy="4219148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312CFF9-E98E-4521-B315-D1BD468E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5166360"/>
            <a:ext cx="6492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30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t>R1 reject → request_more_data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30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t>R2 same previous emotion → +0.05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30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t>R3 confidence &lt; 0.60 → uncertain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30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t>R4 accepted emotion → action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E95F100-B48A-44BE-8F01-EE349C59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46520"/>
            <a:ext cx="731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A5A5A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763718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C219411-D895-459C-8881-D419B9AC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18345D"/>
                </a:solidFill>
                <a:latin typeface="Arial"/>
                <a:ea typeface="Arial"/>
                <a:cs typeface="Arial"/>
              </a:rPr>
              <a:t>3 интегрированных примера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7D1D41E-DF69-45C8-A4F8-1D8D3E0A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1440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A5A5A"/>
                </a:solidFill>
                <a:latin typeface="Arial"/>
                <a:ea typeface="Arial"/>
                <a:cs typeface="Arial"/>
              </a:rPr>
              <a:t>Каждый проходит через все 4 когнитивных модуля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4CB0C4B-C454-4684-B465-C4158EAF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07008"/>
            <a:ext cx="1106424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0A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D520471-2D76-4F83-871E-FC62F582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347472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>
            <a:solidFill>
              <a:srgbClr val="2B70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r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345D"/>
                </a:solidFill>
                <a:latin typeface="Arial"/>
                <a:ea typeface="Arial"/>
                <a:cs typeface="Arial"/>
              </a:rPr>
              <a:t>Example 1 — clear</a:t>
            </a:r>
          </a:p>
          <a:p xmlns:a="http://schemas.openxmlformats.org/drawingml/2006/main"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Input: clear test image
Perception: high quality/confidence
</a:t>
            </a:r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Attention: threshold result</a:t>
            </a:r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
Memory: INSERT to PostgreSQL
Knowledge: R4
Output: emotion + confidence + action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DC7A83F-BA1F-403B-B045-F564F133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54480"/>
            <a:ext cx="347472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>
            <a:solidFill>
              <a:srgbClr val="2B70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r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345D"/>
                </a:solidFill>
                <a:latin typeface="Arial"/>
                <a:ea typeface="Arial"/>
                <a:cs typeface="Arial"/>
              </a:rPr>
              <a:t>Example 2 — mild degradation</a:t>
            </a:r>
          </a:p>
          <a:p xmlns:a="http://schemas.openxmlformats.org/drawingml/2006/main"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Input: same face, mild blur/darken
Perception: weaker signal
</a:t>
            </a:r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Attention: threshold result</a:t>
            </a:r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
</a:t>
            </a:r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Memory: SELECT; R2 only if class matches</a:t>
            </a:r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
Knowledge: R2 continuity bonus
</a:t>
            </a:r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Output: label or uncertain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F0D74CC-455C-4470-BC10-2FE634FF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554480"/>
            <a:ext cx="347472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>
            <a:solidFill>
              <a:srgbClr val="2B70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r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345D"/>
                </a:solidFill>
                <a:latin typeface="Arial"/>
                <a:ea typeface="Arial"/>
                <a:cs typeface="Arial"/>
              </a:rPr>
              <a:t>Example 3 — low quality</a:t>
            </a:r>
          </a:p>
          <a:p xmlns:a="http://schemas.openxmlformats.org/drawingml/2006/main"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Input: heavy blur/darken
Perception: CNN still returns probabilities
</a:t>
            </a:r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Attention: reject if quality threshold fails</a:t>
            </a:r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
Memory: cannot override reject
Knowledge: R1
Output: insufficient_data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1F9AEEA-61E4-45F2-AC73-B5E5DCF0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46520"/>
            <a:ext cx="731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A5A5A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642320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43A867D-FA44-4B88-8F3E-8DD7DDD0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18345D"/>
                </a:solidFill>
                <a:latin typeface="Arial"/>
                <a:ea typeface="Arial"/>
                <a:cs typeface="Arial"/>
              </a:rPr>
              <a:t>Запуск и live demo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386612B-5880-44FF-B080-1E9F195B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1440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A5A5A"/>
                </a:solidFill>
                <a:latin typeface="Arial"/>
                <a:ea typeface="Arial"/>
                <a:cs typeface="Arial"/>
              </a:rPr>
              <a:t>Все действия выполняются через Docker Compose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91B2FC2-3396-4275-B9A6-532F578A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07008"/>
            <a:ext cx="1106424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0A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A95C4FD-D254-4812-BCA1-94218450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64922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>
            <a:solidFill>
              <a:srgbClr val="C8C8C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0" tIns="228600" anchor="ctr"/>
          <a:lstStyle xmlns:a="http://schemas.openxmlformats.org/drawingml/2006/main"/>
          <a:p xmlns:a="http://schemas.openxmlformats.org/drawingml/2006/main">
            <a:pPr algn="ctr">
              <a:spcAft>
                <a:spcPts val="1200"/>
              </a:spcAft>
              <a:buNone/>
            </a:pPr>
            <a:r>
              <a:rPr sz="1500">
                <a:solidFill>
                  <a:srgbClr val="1E1E1E"/>
                </a:solidFill>
                <a:latin typeface="Courier New"/>
                <a:ea typeface="Courier New"/>
                <a:cs typeface="Courier New"/>
              </a:rPr>
              <a:t>1  cp .env.example .env</a:t>
            </a: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500">
                <a:solidFill>
                  <a:srgbClr val="1E1E1E"/>
                </a:solidFill>
                <a:latin typeface="Courier New"/>
                <a:ea typeface="Courier New"/>
                <a:cs typeface="Courier New"/>
              </a:rPr>
              <a:t>2  docker compose --profile data run --rm dataset-downloader</a:t>
            </a: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500">
                <a:solidFill>
                  <a:srgbClr val="1E1E1E"/>
                </a:solidFill>
                <a:latin typeface="Courier New"/>
                <a:ea typeface="Courier New"/>
                <a:cs typeface="Courier New"/>
              </a:rPr>
              <a:t>3  docker compose --profile train run --rm trainer</a:t>
            </a: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500">
                <a:solidFill>
                  <a:srgbClr val="1E1E1E"/>
                </a:solidFill>
                <a:latin typeface="Courier New"/>
                <a:ea typeface="Courier New"/>
                <a:cs typeface="Courier New"/>
              </a:rPr>
              <a:t>4  docker compose up --build</a:t>
            </a: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500">
                <a:solidFill>
                  <a:srgbClr val="1E1E1E"/>
                </a:solidFill>
                <a:latin typeface="Courier New"/>
                <a:ea typeface="Courier New"/>
                <a:cs typeface="Courier New"/>
              </a:rPr>
              <a:t>5  open http://localhost:8501</a:t>
            </a: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500">
                <a:solidFill>
                  <a:srgbClr val="1E1E1E"/>
                </a:solidFill>
                <a:latin typeface="Courier New"/>
                <a:ea typeface="Courier New"/>
                <a:cs typeface="Courier New"/>
              </a:rPr>
              <a:t>6  docker compose exec app python scripts/run_demo.py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10624A7-CEB6-462D-B9CA-66FA446D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463040"/>
            <a:ext cx="38862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>
            <a:solidFill>
              <a:srgbClr val="2B70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r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345D"/>
                </a:solidFill>
                <a:latin typeface="Arial"/>
                <a:ea typeface="Arial"/>
                <a:cs typeface="Arial"/>
              </a:rPr>
              <a:t>Что показать преподавателю</a:t>
            </a:r>
          </a:p>
          <a:p xmlns:a="http://schemas.openxmlformats.org/drawingml/2006/main"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Streamlit pipeline + PostgreSQL history + knowledge graph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110D106-8548-410D-9873-FE2E4488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80360"/>
            <a:ext cx="38862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>
            <a:solidFill>
              <a:srgbClr val="2B70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r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345D"/>
                </a:solidFill>
                <a:latin typeface="Arial"/>
                <a:ea typeface="Arial"/>
                <a:cs typeface="Arial"/>
              </a:rPr>
              <a:t>Главный аргумент</a:t>
            </a:r>
          </a:p>
          <a:p xmlns:a="http://schemas.openxmlformats.org/drawingml/2006/main"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Система умеет отказаться от решения при low-quality input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5A64C20-E26D-45A5-9FB0-1D216A9B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97680"/>
            <a:ext cx="38862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>
            <a:solidFill>
              <a:srgbClr val="2B70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rIns="16459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345D"/>
                </a:solidFill>
                <a:latin typeface="Arial"/>
                <a:ea typeface="Arial"/>
                <a:cs typeface="Arial"/>
              </a:rPr>
              <a:t>Ограничение</a:t>
            </a:r>
          </a:p>
          <a:p xmlns:a="http://schemas.openxmlformats.org/drawingml/2006/main">
            <a:r>
              <a:rPr sz="1200">
                <a:solidFill>
                  <a:srgbClr val="1E1E1E"/>
                </a:solidFill>
                <a:latin typeface="Arial"/>
                <a:ea typeface="Arial"/>
                <a:cs typeface="Arial"/>
              </a:rPr>
              <a:t>Классифицируем выражение лица, а не “истинное внутреннее состояние”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FF31233-6018-49DE-8D1A-D2BE46A9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46520"/>
            <a:ext cx="731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A5A5A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5940139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2026-10-06T07:59:41.2850000Z</dcterms:created>
  <dcterms:modified xsi:type="dcterms:W3CDTF">2026-10-06T07:59:41.2860000Z</dcterms:modified>
</coreProperties>
</file>